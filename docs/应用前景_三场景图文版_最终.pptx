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应用前景与其他应用</a:t>
            </a:r>
          </a:p>
          <a:p>
            <a:endParaRPr/>
          </a:p>
          <a:p>
            <a:r>
              <a:t>本页三个场景是根据技术能力推导的民用应用构想，不表示已有行业部署或实测收益。配图由内置 image_gen 生成，仅作场景示意。</a:t>
            </a:r>
          </a:p>
          <a:p>
            <a:endParaRPr/>
          </a:p>
          <a:p>
            <a:r>
              <a:t>技术依据</a:t>
            </a:r>
          </a:p>
          <a:p>
            <a:r>
              <a:t>1. 一种基于动态技能的分布式智能体任务调度方法及系统_技术交底书_V1.2.docx，第6.2节：资源画像、算法卡与动态技能；第6.3节：按技能选择节点、节点侧选择算法；第6.4节：结果衔接与复用；第6.5节：节点失效、任务重选、检查点与通信恢复；第6.7节：记录版本和结果。</a:t>
            </a:r>
          </a:p>
          <a:p>
            <a:r>
              <a:t>2. 应用功能智能化总体方案v1.4(1).docx，第6.1.2节：检测、分类、多源融合及模型管理；第6.1.3—6.1.4节：算力、电量、链路约束下的任务适配与动态调度；第6.2.4—6.2.5节：结果评估、复用与恢复；第7.3节：过程追溯。</a:t>
            </a:r>
          </a:p>
          <a:p>
            <a:endParaRPr/>
          </a:p>
          <a:p>
            <a:r>
              <a:t>灾后应急救援</a:t>
            </a:r>
          </a:p>
          <a:p>
            <a:r>
              <a:t>无人机进行广域搜索，地面机器人抵近核查，救援人员查看汇总线索。任务根据节点当前技能分配，节点退出时重分配未完成任务，复用已完成搜索结果。预期价值是扩大覆盖并减少重复排查。</a:t>
            </a:r>
          </a:p>
          <a:p>
            <a:endParaRPr/>
          </a:p>
          <a:p>
            <a:r>
              <a:t>森林火情巡查</a:t>
            </a:r>
          </a:p>
          <a:p>
            <a:r>
              <a:t>固定摄像头和传感器发现异常，无人机补充可见光或热成像观测，巡护人员复核。融合多源观测，并根据电量和链路安排节点接力。预期价值是减少误报并增强监测连续性。</a:t>
            </a:r>
          </a:p>
          <a:p>
            <a:endParaRPr/>
          </a:p>
          <a:p>
            <a:r>
              <a:t>山区电力巡检</a:t>
            </a:r>
          </a:p>
          <a:p>
            <a:r>
              <a:t>无人机检查杆塔线路，地面机器人检查站内设备。现场轻量筛查与高算力节点复核相结合，弱网时保存结果，恢复后续传。通过版本和运行记录支持缺陷追溯。</a:t>
            </a:r>
          </a:p>
          <a:p>
            <a:endParaRPr/>
          </a:p>
          <a:p>
            <a:r>
              <a:t>行业实施仍需要接入具体设备、行业数据和业务规则。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3B49D4-5748-4D5C-AF24-4FE2524F8111}"/>
              </a:ext>
            </a:extLst>
          </p:cNvPr>
          <p:cNvSpPr>
            <a:spLocks noGrp="1"/>
          </p:cNvSpPr>
          <p:nvPr/>
        </p:nvSpPr>
        <p:spPr>
          <a:xfrm>
            <a:off x="594360" y="274320"/>
            <a:ext cx="619125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850" b="1">
                <a:solidFill>
                  <a:srgbClr val="117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0" b="1" spc="220">
                <a:solidFill>
                  <a:srgbClr val="1176D4"/>
                </a:solidFill>
                <a:latin typeface="Microsoft YaHei"/>
                <a:ea typeface="Microsoft YaHei"/>
                <a:cs typeface="Microsoft YaHei"/>
              </a:rPr>
              <a:t>APPLICATION / PROSPECTS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E4CD38-B108-47FF-855F-6D7F74A5EB26}"/>
              </a:ext>
            </a:extLst>
          </p:cNvPr>
          <p:cNvSpPr>
            <a:spLocks noGrp="1"/>
          </p:cNvSpPr>
          <p:nvPr/>
        </p:nvSpPr>
        <p:spPr>
          <a:xfrm>
            <a:off x="594360" y="5486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25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应用前景与其他应用</a:t>
            </a:r>
            <a:endParaRPr sz="25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F6E1CBA-317B-42FE-B805-BFEC3407334E}"/>
              </a:ext>
            </a:extLst>
          </p:cNvPr>
          <p:cNvSpPr>
            <a:spLocks noGrp="1"/>
          </p:cNvSpPr>
          <p:nvPr/>
        </p:nvSpPr>
        <p:spPr>
          <a:xfrm>
            <a:off x="594360" y="1051560"/>
            <a:ext cx="685800" cy="50292"/>
          </a:xfrm>
          <a:prstGeom prst="rect">
            <a:avLst/>
          </a:prstGeom>
          <a:solidFill>
            <a:srgbClr val="19B8E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02E16A-17FF-4EC5-9264-D338B37EED94}"/>
              </a:ext>
            </a:extLst>
          </p:cNvPr>
          <p:cNvSpPr>
            <a:spLocks noGrp="1"/>
          </p:cNvSpPr>
          <p:nvPr/>
        </p:nvSpPr>
        <p:spPr>
          <a:xfrm>
            <a:off x="11064240" y="393192"/>
            <a:ext cx="512064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1100">
                <a:solidFill>
                  <a:srgbClr val="8FA0B2"/>
                </a:solidFill>
                <a:latin typeface="Aptos Mono"/>
                <a:ea typeface="Aptos Mono"/>
                <a:cs typeface="Aptos Mono"/>
              </a:rPr>
              <a:t>01</a:t>
            </a:r>
            <a:endParaRPr sz="11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30F7F36-5421-4479-9FCA-F6E0311E1BFC}"/>
              </a:ext>
            </a:extLst>
          </p:cNvPr>
          <p:cNvSpPr>
            <a:spLocks noGrp="1"/>
          </p:cNvSpPr>
          <p:nvPr/>
        </p:nvSpPr>
        <p:spPr>
          <a:xfrm>
            <a:off x="594360" y="6528816"/>
            <a:ext cx="11000232" cy="0"/>
          </a:xfrm>
          <a:prstGeom prst="line">
            <a:avLst/>
          </a:prstGeom>
          <a:noFill/>
          <a:ln w="8890">
            <a:solidFill>
              <a:srgbClr val="DDE6EE"/>
            </a:solidFill>
            <a:prstDash val="soli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CD226C5-6E97-4C10-97D7-78030E742703}"/>
              </a:ext>
            </a:extLst>
          </p:cNvPr>
          <p:cNvSpPr>
            <a:spLocks noGrp="1"/>
          </p:cNvSpPr>
          <p:nvPr/>
        </p:nvSpPr>
        <p:spPr>
          <a:xfrm>
            <a:off x="8732520" y="6565392"/>
            <a:ext cx="283464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endParaRPr sz="7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A3C73CB-280D-46E3-B7A0-C8966117A48A}"/>
              </a:ext>
            </a:extLst>
          </p:cNvPr>
          <p:cNvSpPr>
            <a:spLocks noGrp="1"/>
          </p:cNvSpPr>
          <p:nvPr/>
        </p:nvSpPr>
        <p:spPr>
          <a:xfrm>
            <a:off x="9857232" y="923544"/>
            <a:ext cx="1719072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0160">
            <a:solidFill>
              <a:srgbClr val="064A9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E64FC4E-FA07-40B0-96E6-DBBAEB2DEC4E}"/>
              </a:ext>
            </a:extLst>
          </p:cNvPr>
          <p:cNvSpPr>
            <a:spLocks noGrp="1"/>
          </p:cNvSpPr>
          <p:nvPr/>
        </p:nvSpPr>
        <p:spPr>
          <a:xfrm>
            <a:off x="9857232" y="928116"/>
            <a:ext cx="1719072" cy="2468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民用应用场景</a:t>
            </a:r>
            <a:endParaRPr sz="9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16D8C65-3B78-4C11-AD59-088DB969E3D2}"/>
              </a:ext>
            </a:extLst>
          </p:cNvPr>
          <p:cNvSpPr>
            <a:spLocks noGrp="1"/>
          </p:cNvSpPr>
          <p:nvPr/>
        </p:nvSpPr>
        <p:spPr>
          <a:xfrm>
            <a:off x="658368" y="1676400"/>
            <a:ext cx="3401568" cy="4095750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B0FD337-19A9-4E29-8D95-17A8547A3AAF}"/>
              </a:ext>
            </a:extLst>
          </p:cNvPr>
          <p:cNvSpPr>
            <a:spLocks noGrp="1"/>
          </p:cNvSpPr>
          <p:nvPr/>
        </p:nvSpPr>
        <p:spPr>
          <a:xfrm>
            <a:off x="829818" y="1800225"/>
            <a:ext cx="323850" cy="323850"/>
          </a:xfrm>
          <a:prstGeom prst="ellipse">
            <a:avLst/>
          </a:prstGeom>
          <a:solidFill>
            <a:srgbClr val="1176D4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879245B-21FC-41B5-BADC-399800D74E8E}"/>
              </a:ext>
            </a:extLst>
          </p:cNvPr>
          <p:cNvSpPr>
            <a:spLocks noGrp="1"/>
          </p:cNvSpPr>
          <p:nvPr/>
        </p:nvSpPr>
        <p:spPr>
          <a:xfrm>
            <a:off x="867918" y="1847850"/>
            <a:ext cx="24765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9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CABE385-CB33-48FD-99A1-1682183460CF}"/>
              </a:ext>
            </a:extLst>
          </p:cNvPr>
          <p:cNvSpPr>
            <a:spLocks noGrp="1"/>
          </p:cNvSpPr>
          <p:nvPr/>
        </p:nvSpPr>
        <p:spPr>
          <a:xfrm>
            <a:off x="1287018" y="1790700"/>
            <a:ext cx="257175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725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灾后应急救援</a:t>
            </a:r>
            <a:endParaRPr sz="17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C4FA9D9-2E49-4A4B-979E-34AA31CB4BAB}"/>
              </a:ext>
            </a:extLst>
          </p:cNvPr>
          <p:cNvSpPr>
            <a:spLocks noGrp="1"/>
          </p:cNvSpPr>
          <p:nvPr/>
        </p:nvSpPr>
        <p:spPr>
          <a:xfrm>
            <a:off x="4425696" y="1676400"/>
            <a:ext cx="3401568" cy="4095750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F9D3097-8DF8-47D6-B01D-0A03F95D3EBB}"/>
              </a:ext>
            </a:extLst>
          </p:cNvPr>
          <p:cNvSpPr>
            <a:spLocks noGrp="1"/>
          </p:cNvSpPr>
          <p:nvPr/>
        </p:nvSpPr>
        <p:spPr>
          <a:xfrm>
            <a:off x="4597146" y="1800225"/>
            <a:ext cx="323850" cy="323850"/>
          </a:xfrm>
          <a:prstGeom prst="ellipse">
            <a:avLst/>
          </a:prstGeom>
          <a:solidFill>
            <a:srgbClr val="26C7B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1BC0A1A-251A-4299-89F6-AD410DEFA17C}"/>
              </a:ext>
            </a:extLst>
          </p:cNvPr>
          <p:cNvSpPr>
            <a:spLocks noGrp="1"/>
          </p:cNvSpPr>
          <p:nvPr/>
        </p:nvSpPr>
        <p:spPr>
          <a:xfrm>
            <a:off x="4635246" y="1847850"/>
            <a:ext cx="24765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9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FAA6302-3F2D-4096-8E34-32195F0F0344}"/>
              </a:ext>
            </a:extLst>
          </p:cNvPr>
          <p:cNvSpPr>
            <a:spLocks noGrp="1"/>
          </p:cNvSpPr>
          <p:nvPr/>
        </p:nvSpPr>
        <p:spPr>
          <a:xfrm>
            <a:off x="5054346" y="1790700"/>
            <a:ext cx="257175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725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园区设备协同</a:t>
            </a:r>
            <a:endParaRPr sz="170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6458E351-8E4B-41DE-91DB-6194FFB5367D}"/>
              </a:ext>
            </a:extLst>
          </p:cNvPr>
          <p:cNvSpPr>
            <a:spLocks noGrp="1"/>
          </p:cNvSpPr>
          <p:nvPr/>
        </p:nvSpPr>
        <p:spPr>
          <a:xfrm>
            <a:off x="8193024" y="1676400"/>
            <a:ext cx="3401568" cy="4095750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0160">
            <a:solidFill>
              <a:srgbClr val="D7E1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F3D2D275-A1FC-4011-80D1-6EA111EECEFD}"/>
              </a:ext>
            </a:extLst>
          </p:cNvPr>
          <p:cNvSpPr>
            <a:spLocks noGrp="1"/>
          </p:cNvSpPr>
          <p:nvPr/>
        </p:nvSpPr>
        <p:spPr>
          <a:xfrm>
            <a:off x="8364474" y="1800225"/>
            <a:ext cx="323850" cy="323850"/>
          </a:xfrm>
          <a:prstGeom prst="ellipse">
            <a:avLst/>
          </a:prstGeom>
          <a:solidFill>
            <a:srgbClr val="7679F5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59B9756C-4811-49A0-AD78-B8D67FE6ED1F}"/>
              </a:ext>
            </a:extLst>
          </p:cNvPr>
          <p:cNvSpPr>
            <a:spLocks noGrp="1"/>
          </p:cNvSpPr>
          <p:nvPr/>
        </p:nvSpPr>
        <p:spPr>
          <a:xfrm>
            <a:off x="8402574" y="1847850"/>
            <a:ext cx="24765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90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9F0F2109-4018-46EE-8546-2F83016B04F8}"/>
              </a:ext>
            </a:extLst>
          </p:cNvPr>
          <p:cNvSpPr>
            <a:spLocks noGrp="1"/>
          </p:cNvSpPr>
          <p:nvPr/>
        </p:nvSpPr>
        <p:spPr>
          <a:xfrm>
            <a:off x="8821674" y="1790700"/>
            <a:ext cx="257175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725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城市低空物流配送</a:t>
            </a:r>
            <a:endParaRPr sz="1700"/>
          </a:p>
        </p:txBody>
      </p:sp>
      <p:sp>
        <p:nvSpPr>
          <p:cNvPr id="50" name="无人机与地面设备按实时技能协同，适应资源变化并接续任务。">
            <a:extLst>
              <a:ext uri="{FF2B5EF4-FFF2-40B4-BE49-F238E27FC236}">
                <a16:creationId xmlns:a16="http://schemas.microsoft.com/office/drawing/2014/main" id="{4475AD3F-D72D-407A-85E5-58D76B5530FB}"/>
              </a:ext>
            </a:extLst>
          </p:cNvPr>
          <p:cNvSpPr>
            <a:spLocks noGrp="1"/>
          </p:cNvSpPr>
          <p:nvPr/>
        </p:nvSpPr>
        <p:spPr>
          <a:xfrm>
            <a:off x="594360" y="1228725"/>
            <a:ext cx="10763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425" b="0">
                <a:solidFill>
                  <a:srgbClr val="63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58A"/>
                </a:solidFill>
                <a:latin typeface="Microsoft YaHei"/>
                <a:ea typeface="Microsoft YaHei"/>
                <a:cs typeface="Microsoft YaHei"/>
              </a:rPr>
              <a:t>异构设备按实时技能协同组网，随资源变化自适应调度、异常后自动接续。</a:t>
            </a:r>
          </a:p>
        </p:txBody>
      </p:sp>
      <p:pic>
        <p:nvPicPr>
          <p:cNvPr id="99" name="图片 9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9818" y="2266950"/>
            <a:ext cx="3058668" cy="2039112"/>
          </a:xfrm>
          <a:prstGeom prst="rect">
            <a:avLst/>
          </a:prstGeom>
        </p:spPr>
      </p:pic>
      <p:sp>
        <p:nvSpPr>
          <p:cNvPr id="52" name="任务">
            <a:extLst>
              <a:ext uri="{FF2B5EF4-FFF2-40B4-BE49-F238E27FC236}">
                <a16:creationId xmlns:a16="http://schemas.microsoft.com/office/drawing/2014/main" id="{283F3FFB-6411-4C5A-8B00-51AF9AC1F365}"/>
              </a:ext>
            </a:extLst>
          </p:cNvPr>
          <p:cNvSpPr>
            <a:spLocks noGrp="1"/>
          </p:cNvSpPr>
          <p:nvPr/>
        </p:nvSpPr>
        <p:spPr>
          <a:xfrm>
            <a:off x="829818" y="4457700"/>
            <a:ext cx="40957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275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53" name="空地协同搜寻受困线索">
            <a:extLst>
              <a:ext uri="{FF2B5EF4-FFF2-40B4-BE49-F238E27FC236}">
                <a16:creationId xmlns:a16="http://schemas.microsoft.com/office/drawing/2014/main" id="{D55C7B89-3A74-4165-B646-590464DDE3F4}"/>
              </a:ext>
            </a:extLst>
          </p:cNvPr>
          <p:cNvSpPr>
            <a:spLocks noGrp="1"/>
          </p:cNvSpPr>
          <p:nvPr/>
        </p:nvSpPr>
        <p:spPr>
          <a:xfrm>
            <a:off x="1296543" y="4448175"/>
            <a:ext cx="2628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350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空地协同搜寻受困人员线索</a:t>
            </a:r>
          </a:p>
        </p:txBody>
      </p:sp>
      <p:sp>
        <p:nvSpPr>
          <p:cNvPr id="54" name="方案">
            <a:extLst>
              <a:ext uri="{FF2B5EF4-FFF2-40B4-BE49-F238E27FC236}">
                <a16:creationId xmlns:a16="http://schemas.microsoft.com/office/drawing/2014/main" id="{974C0BAF-DA25-4857-B8BE-93BBC0FD36E4}"/>
              </a:ext>
            </a:extLst>
          </p:cNvPr>
          <p:cNvSpPr>
            <a:spLocks noGrp="1"/>
          </p:cNvSpPr>
          <p:nvPr/>
        </p:nvSpPr>
        <p:spPr>
          <a:xfrm>
            <a:off x="829818" y="4867275"/>
            <a:ext cx="40957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275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55" name="按技能分派搜索与复核，&#10;节点退出后接续任务">
            <a:extLst>
              <a:ext uri="{FF2B5EF4-FFF2-40B4-BE49-F238E27FC236}">
                <a16:creationId xmlns:a16="http://schemas.microsoft.com/office/drawing/2014/main" id="{7E24118E-42B6-4C66-A137-0D298DA15B18}"/>
              </a:ext>
            </a:extLst>
          </p:cNvPr>
          <p:cNvSpPr>
            <a:spLocks noGrp="1"/>
          </p:cNvSpPr>
          <p:nvPr/>
        </p:nvSpPr>
        <p:spPr>
          <a:xfrm>
            <a:off x="1296543" y="4838700"/>
            <a:ext cx="26098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350" b="0">
                <a:solidFill>
                  <a:srgbClr val="63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8A"/>
                </a:solidFill>
                <a:latin typeface="Microsoft YaHei"/>
                <a:ea typeface="Microsoft YaHei"/>
                <a:cs typeface="Microsoft YaHei"/>
              </a:rPr>
              <a:t>按技能分派搜索与复核，</a:t>
            </a:r>
          </a:p>
          <a:p>
            <a:pPr algn="l">
              <a:defRPr sz="1350" b="0">
                <a:solidFill>
                  <a:srgbClr val="63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8A"/>
                </a:solidFill>
                <a:latin typeface="Microsoft YaHei"/>
                <a:ea typeface="Microsoft YaHei"/>
                <a:cs typeface="Microsoft YaHei"/>
              </a:rPr>
              <a:t>设备退出后自动接续</a:t>
            </a:r>
          </a:p>
        </p:txBody>
      </p:sp>
      <p:sp>
        <p:nvSpPr>
          <p:cNvPr id="56" name="价值">
            <a:extLst>
              <a:ext uri="{FF2B5EF4-FFF2-40B4-BE49-F238E27FC236}">
                <a16:creationId xmlns:a16="http://schemas.microsoft.com/office/drawing/2014/main" id="{3171903D-910A-4276-9422-7CFD4BEAB1B2}"/>
              </a:ext>
            </a:extLst>
          </p:cNvPr>
          <p:cNvSpPr>
            <a:spLocks noGrp="1"/>
          </p:cNvSpPr>
          <p:nvPr/>
        </p:nvSpPr>
        <p:spPr>
          <a:xfrm>
            <a:off x="829818" y="5448300"/>
            <a:ext cx="40957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275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57" name="扩大覆盖，减少重复排查">
            <a:extLst>
              <a:ext uri="{FF2B5EF4-FFF2-40B4-BE49-F238E27FC236}">
                <a16:creationId xmlns:a16="http://schemas.microsoft.com/office/drawing/2014/main" id="{B1F8F938-CE59-4B1C-BAC6-61D5789157DA}"/>
              </a:ext>
            </a:extLst>
          </p:cNvPr>
          <p:cNvSpPr>
            <a:spLocks noGrp="1"/>
          </p:cNvSpPr>
          <p:nvPr/>
        </p:nvSpPr>
        <p:spPr>
          <a:xfrm>
            <a:off x="1296543" y="5438775"/>
            <a:ext cx="26384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3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扩大覆盖，减少重复排查与盲区</a:t>
            </a:r>
          </a:p>
        </p:txBody>
      </p:sp>
      <p:pic>
        <p:nvPicPr>
          <p:cNvPr id="106" name="图片 10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97146" y="2266950"/>
            <a:ext cx="3058668" cy="2039112"/>
          </a:xfrm>
          <a:prstGeom prst="rect">
            <a:avLst/>
          </a:prstGeom>
        </p:spPr>
      </p:pic>
      <p:sp>
        <p:nvSpPr>
          <p:cNvPr id="59" name="任务">
            <a:extLst>
              <a:ext uri="{FF2B5EF4-FFF2-40B4-BE49-F238E27FC236}">
                <a16:creationId xmlns:a16="http://schemas.microsoft.com/office/drawing/2014/main" id="{89F27631-06C1-4CCD-BB78-FB9B619BC9DA}"/>
              </a:ext>
            </a:extLst>
          </p:cNvPr>
          <p:cNvSpPr>
            <a:spLocks noGrp="1"/>
          </p:cNvSpPr>
          <p:nvPr/>
        </p:nvSpPr>
        <p:spPr>
          <a:xfrm>
            <a:off x="4597146" y="4457700"/>
            <a:ext cx="40957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275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60" name="多源发现并复核烟雾热源">
            <a:extLst>
              <a:ext uri="{FF2B5EF4-FFF2-40B4-BE49-F238E27FC236}">
                <a16:creationId xmlns:a16="http://schemas.microsoft.com/office/drawing/2014/main" id="{EB3D3F11-353A-4755-B09C-E6E36D8198BC}"/>
              </a:ext>
            </a:extLst>
          </p:cNvPr>
          <p:cNvSpPr>
            <a:spLocks noGrp="1"/>
          </p:cNvSpPr>
          <p:nvPr/>
        </p:nvSpPr>
        <p:spPr>
          <a:xfrm>
            <a:off x="5063871" y="4448175"/>
            <a:ext cx="2628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350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多类设备统一安全巡查与联动</a:t>
            </a:r>
          </a:p>
        </p:txBody>
      </p:sp>
      <p:sp>
        <p:nvSpPr>
          <p:cNvPr id="61" name="方案">
            <a:extLst>
              <a:ext uri="{FF2B5EF4-FFF2-40B4-BE49-F238E27FC236}">
                <a16:creationId xmlns:a16="http://schemas.microsoft.com/office/drawing/2014/main" id="{A79DF92E-1B38-411D-8E03-424DFF1AE3E8}"/>
              </a:ext>
            </a:extLst>
          </p:cNvPr>
          <p:cNvSpPr>
            <a:spLocks noGrp="1"/>
          </p:cNvSpPr>
          <p:nvPr/>
        </p:nvSpPr>
        <p:spPr>
          <a:xfrm>
            <a:off x="4597146" y="4867275"/>
            <a:ext cx="40957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275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62" name="融合观测结果，&#10;按电量与链路安排接力">
            <a:extLst>
              <a:ext uri="{FF2B5EF4-FFF2-40B4-BE49-F238E27FC236}">
                <a16:creationId xmlns:a16="http://schemas.microsoft.com/office/drawing/2014/main" id="{500F3EA3-C897-4D2D-BC23-385C3A32949A}"/>
              </a:ext>
            </a:extLst>
          </p:cNvPr>
          <p:cNvSpPr>
            <a:spLocks noGrp="1"/>
          </p:cNvSpPr>
          <p:nvPr/>
        </p:nvSpPr>
        <p:spPr>
          <a:xfrm>
            <a:off x="5063871" y="4838700"/>
            <a:ext cx="26098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350" b="0">
                <a:solidFill>
                  <a:srgbClr val="63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8A"/>
                </a:solidFill>
                <a:latin typeface="Microsoft YaHei"/>
                <a:ea typeface="Microsoft YaHei"/>
                <a:cs typeface="Microsoft YaHei"/>
              </a:rPr>
              <a:t>技能统一注册按负载分派，</a:t>
            </a:r>
          </a:p>
          <a:p>
            <a:pPr algn="l">
              <a:defRPr sz="1350" b="0">
                <a:solidFill>
                  <a:srgbClr val="63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8A"/>
                </a:solidFill>
                <a:latin typeface="Microsoft YaHei"/>
                <a:ea typeface="Microsoft YaHei"/>
                <a:cs typeface="Microsoft YaHei"/>
              </a:rPr>
              <a:t>设备检修下线无缝接管</a:t>
            </a:r>
          </a:p>
        </p:txBody>
      </p:sp>
      <p:sp>
        <p:nvSpPr>
          <p:cNvPr id="63" name="价值">
            <a:extLst>
              <a:ext uri="{FF2B5EF4-FFF2-40B4-BE49-F238E27FC236}">
                <a16:creationId xmlns:a16="http://schemas.microsoft.com/office/drawing/2014/main" id="{BC253650-24BD-4500-BDC6-825018F5B8B9}"/>
              </a:ext>
            </a:extLst>
          </p:cNvPr>
          <p:cNvSpPr>
            <a:spLocks noGrp="1"/>
          </p:cNvSpPr>
          <p:nvPr/>
        </p:nvSpPr>
        <p:spPr>
          <a:xfrm>
            <a:off x="4597146" y="5448300"/>
            <a:ext cx="40957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275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64" name="减少误报，保持连续监测">
            <a:extLst>
              <a:ext uri="{FF2B5EF4-FFF2-40B4-BE49-F238E27FC236}">
                <a16:creationId xmlns:a16="http://schemas.microsoft.com/office/drawing/2014/main" id="{210542FA-55D0-42BA-BE00-A8BD92398543}"/>
              </a:ext>
            </a:extLst>
          </p:cNvPr>
          <p:cNvSpPr>
            <a:spLocks noGrp="1"/>
          </p:cNvSpPr>
          <p:nvPr/>
        </p:nvSpPr>
        <p:spPr>
          <a:xfrm>
            <a:off x="5063871" y="5438775"/>
            <a:ext cx="26384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3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一套框架统管，告警可审计</a:t>
            </a:r>
          </a:p>
        </p:txBody>
      </p:sp>
      <p:pic>
        <p:nvPicPr>
          <p:cNvPr id="113" name="图片 1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364474" y="2266950"/>
            <a:ext cx="3058668" cy="2039112"/>
          </a:xfrm>
          <a:prstGeom prst="rect">
            <a:avLst/>
          </a:prstGeom>
        </p:spPr>
      </p:pic>
      <p:sp>
        <p:nvSpPr>
          <p:cNvPr id="66" name="任务">
            <a:extLst>
              <a:ext uri="{FF2B5EF4-FFF2-40B4-BE49-F238E27FC236}">
                <a16:creationId xmlns:a16="http://schemas.microsoft.com/office/drawing/2014/main" id="{AE1DE8FA-7E6F-462B-B6DB-B4808BAA5B7B}"/>
              </a:ext>
            </a:extLst>
          </p:cNvPr>
          <p:cNvSpPr>
            <a:spLocks noGrp="1"/>
          </p:cNvSpPr>
          <p:nvPr/>
        </p:nvSpPr>
        <p:spPr>
          <a:xfrm>
            <a:off x="8364474" y="4457700"/>
            <a:ext cx="40957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275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67" name="空地协作检查线路与站点">
            <a:extLst>
              <a:ext uri="{FF2B5EF4-FFF2-40B4-BE49-F238E27FC236}">
                <a16:creationId xmlns:a16="http://schemas.microsoft.com/office/drawing/2014/main" id="{B39904C8-809C-4D44-8860-65126BF46984}"/>
              </a:ext>
            </a:extLst>
          </p:cNvPr>
          <p:cNvSpPr>
            <a:spLocks noGrp="1"/>
          </p:cNvSpPr>
          <p:nvPr/>
        </p:nvSpPr>
        <p:spPr>
          <a:xfrm>
            <a:off x="8831199" y="4448175"/>
            <a:ext cx="2628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350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高频订单下的多机接力配送</a:t>
            </a:r>
          </a:p>
        </p:txBody>
      </p:sp>
      <p:sp>
        <p:nvSpPr>
          <p:cNvPr id="68" name="方案">
            <a:extLst>
              <a:ext uri="{FF2B5EF4-FFF2-40B4-BE49-F238E27FC236}">
                <a16:creationId xmlns:a16="http://schemas.microsoft.com/office/drawing/2014/main" id="{EA978366-0404-4359-BD0D-20597855C63E}"/>
              </a:ext>
            </a:extLst>
          </p:cNvPr>
          <p:cNvSpPr>
            <a:spLocks noGrp="1"/>
          </p:cNvSpPr>
          <p:nvPr/>
        </p:nvSpPr>
        <p:spPr>
          <a:xfrm>
            <a:off x="8364474" y="4867275"/>
            <a:ext cx="40957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275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69" name="按算力分配缺陷分析，&#10;弱网保存、恢复后续传">
            <a:extLst>
              <a:ext uri="{FF2B5EF4-FFF2-40B4-BE49-F238E27FC236}">
                <a16:creationId xmlns:a16="http://schemas.microsoft.com/office/drawing/2014/main" id="{A0AB4C2F-EDC5-44A1-9CDB-62EA2DD02B76}"/>
              </a:ext>
            </a:extLst>
          </p:cNvPr>
          <p:cNvSpPr>
            <a:spLocks noGrp="1"/>
          </p:cNvSpPr>
          <p:nvPr/>
        </p:nvSpPr>
        <p:spPr>
          <a:xfrm>
            <a:off x="8831199" y="4838700"/>
            <a:ext cx="26098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350" b="0">
                <a:solidFill>
                  <a:srgbClr val="63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8A"/>
                </a:solidFill>
                <a:latin typeface="Microsoft YaHei"/>
                <a:ea typeface="Microsoft YaHei"/>
                <a:cs typeface="Microsoft YaHei"/>
              </a:rPr>
              <a:t>电量链路实时定技能，</a:t>
            </a:r>
          </a:p>
          <a:p>
            <a:pPr algn="l">
              <a:defRPr sz="1350" b="0">
                <a:solidFill>
                  <a:srgbClr val="63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8A"/>
                </a:solidFill>
                <a:latin typeface="Microsoft YaHei"/>
                <a:ea typeface="Microsoft YaHei"/>
                <a:cs typeface="Microsoft YaHei"/>
              </a:rPr>
              <a:t>订单执行前就近绑定无人机</a:t>
            </a:r>
          </a:p>
        </p:txBody>
      </p:sp>
      <p:sp>
        <p:nvSpPr>
          <p:cNvPr id="70" name="价值">
            <a:extLst>
              <a:ext uri="{FF2B5EF4-FFF2-40B4-BE49-F238E27FC236}">
                <a16:creationId xmlns:a16="http://schemas.microsoft.com/office/drawing/2014/main" id="{F72160F8-7458-4875-BB96-8D3E18806516}"/>
              </a:ext>
            </a:extLst>
          </p:cNvPr>
          <p:cNvSpPr>
            <a:spLocks noGrp="1"/>
          </p:cNvSpPr>
          <p:nvPr/>
        </p:nvSpPr>
        <p:spPr>
          <a:xfrm>
            <a:off x="8364474" y="5448300"/>
            <a:ext cx="40957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275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71" name="减少登高，支持缺陷追溯">
            <a:extLst>
              <a:ext uri="{FF2B5EF4-FFF2-40B4-BE49-F238E27FC236}">
                <a16:creationId xmlns:a16="http://schemas.microsoft.com/office/drawing/2014/main" id="{D9F93A95-7FA6-49F0-AD28-2A30BB7A8DD5}"/>
              </a:ext>
            </a:extLst>
          </p:cNvPr>
          <p:cNvSpPr>
            <a:spLocks noGrp="1"/>
          </p:cNvSpPr>
          <p:nvPr/>
        </p:nvSpPr>
        <p:spPr>
          <a:xfrm>
            <a:off x="8831199" y="5438775"/>
            <a:ext cx="26384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3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运力最大化，履约全程可追溯</a:t>
            </a:r>
          </a:p>
        </p:txBody>
      </p:sp>
      <p:sp>
        <p:nvSpPr>
          <p:cNvPr id="72" name="按技能分工">
            <a:extLst>
              <a:ext uri="{FF2B5EF4-FFF2-40B4-BE49-F238E27FC236}">
                <a16:creationId xmlns:a16="http://schemas.microsoft.com/office/drawing/2014/main" id="{F8A3A8F3-5BAE-4F98-935D-95555C400735}"/>
              </a:ext>
            </a:extLst>
          </p:cNvPr>
          <p:cNvSpPr>
            <a:spLocks noGrp="1"/>
          </p:cNvSpPr>
          <p:nvPr/>
        </p:nvSpPr>
        <p:spPr>
          <a:xfrm>
            <a:off x="1352550" y="5991225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6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按技能分工</a:t>
            </a:r>
          </a:p>
        </p:txBody>
      </p:sp>
      <p:sp>
        <p:nvSpPr>
          <p:cNvPr id="73" name="随资源调整">
            <a:extLst>
              <a:ext uri="{FF2B5EF4-FFF2-40B4-BE49-F238E27FC236}">
                <a16:creationId xmlns:a16="http://schemas.microsoft.com/office/drawing/2014/main" id="{63FA9139-7204-4872-A790-537C4B5E7476}"/>
              </a:ext>
            </a:extLst>
          </p:cNvPr>
          <p:cNvSpPr>
            <a:spLocks noGrp="1"/>
          </p:cNvSpPr>
          <p:nvPr/>
        </p:nvSpPr>
        <p:spPr>
          <a:xfrm>
            <a:off x="3819525" y="5991225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6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随资源调整</a:t>
            </a:r>
          </a:p>
        </p:txBody>
      </p:sp>
      <p:sp>
        <p:nvSpPr>
          <p:cNvPr id="74" name="异常后接续">
            <a:extLst>
              <a:ext uri="{FF2B5EF4-FFF2-40B4-BE49-F238E27FC236}">
                <a16:creationId xmlns:a16="http://schemas.microsoft.com/office/drawing/2014/main" id="{AA19CDBB-4E91-4A07-8CBB-B1B8F68139F0}"/>
              </a:ext>
            </a:extLst>
          </p:cNvPr>
          <p:cNvSpPr>
            <a:spLocks noGrp="1"/>
          </p:cNvSpPr>
          <p:nvPr/>
        </p:nvSpPr>
        <p:spPr>
          <a:xfrm>
            <a:off x="6286500" y="5991225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6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异常后接续</a:t>
            </a:r>
          </a:p>
        </p:txBody>
      </p:sp>
      <p:sp>
        <p:nvSpPr>
          <p:cNvPr id="75" name="结果可追溯">
            <a:extLst>
              <a:ext uri="{FF2B5EF4-FFF2-40B4-BE49-F238E27FC236}">
                <a16:creationId xmlns:a16="http://schemas.microsoft.com/office/drawing/2014/main" id="{C3346903-13A2-4559-9C10-E2F46044BF8F}"/>
              </a:ext>
            </a:extLst>
          </p:cNvPr>
          <p:cNvSpPr>
            <a:spLocks noGrp="1"/>
          </p:cNvSpPr>
          <p:nvPr/>
        </p:nvSpPr>
        <p:spPr>
          <a:xfrm>
            <a:off x="8753475" y="5991225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6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结果可追溯</a:t>
            </a:r>
          </a:p>
        </p:txBody>
      </p:sp>
    </p:spTree>
    <p:extLst>
      <p:ext uri="{BB962C8B-B14F-4D97-AF65-F5344CB8AC3E}">
        <p14:creationId xmlns:p14="http://schemas.microsoft.com/office/powerpoint/2010/main" val="1589882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Microsoft Macintosh PowerPoint</Application>
  <DocSecurity>0</DocSecurity>
  <PresentationFormat>宽屏</PresentationFormat>
  <Paragraphs>54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Aptos Mono</vt:lpstr>
      <vt:lpstr>Arial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caimushu</cp:lastModifiedBy>
  <cp:revision>1</cp:revision>
  <dcterms:created xsi:type="dcterms:W3CDTF">2026-09-23T13:38:58Z</dcterms:created>
  <dcterms:modified xsi:type="dcterms:W3CDTF">2026-09-23T14:50:57Z</dcterms:modified>
</cp:coreProperties>
</file>